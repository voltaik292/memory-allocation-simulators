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5" r:id="rId4"/>
    <p:sldId id="258" r:id="rId5"/>
    <p:sldId id="259" r:id="rId6"/>
    <p:sldId id="262" r:id="rId7"/>
    <p:sldId id="263" r:id="rId8"/>
    <p:sldId id="264" r:id="rId9"/>
  </p:sldIdLst>
  <p:sldSz cx="14630400" cy="8229600"/>
  <p:notesSz cx="8229600" cy="146304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Source Sans Pro" panose="020B0604020202020204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3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7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458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38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716881"/>
            <a:ext cx="74164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00"/>
              </a:lnSpc>
            </a:pPr>
            <a:r>
              <a:rPr lang="en-US" sz="4400" b="1" dirty="0">
                <a:solidFill>
                  <a:schemeClr val="bg1"/>
                </a:solidFill>
              </a:rPr>
              <a:t>Paging Memory Allocation Simulator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350198" y="3489603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This presentation introduces a </a:t>
            </a:r>
            <a:r>
              <a:rPr lang="en-US" sz="1900" dirty="0" smtClean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command-line </a:t>
            </a: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interface </a:t>
            </a:r>
            <a:r>
              <a:rPr lang="en-US" sz="1900" dirty="0" smtClean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(CLI) simulator</a:t>
            </a: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50198" y="4137422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000" dirty="0">
                <a:solidFill>
                  <a:schemeClr val="bg1"/>
                </a:solidFill>
              </a:rPr>
              <a:t>It simulates how memory is allocated and translated using pages and frames.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3062"/>
            <a:ext cx="14630400" cy="27767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3522821"/>
            <a:ext cx="10113288" cy="631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950"/>
              </a:lnSpc>
            </a:pPr>
            <a:r>
              <a:rPr lang="en-US" sz="4000" b="1" dirty="0">
                <a:solidFill>
                  <a:schemeClr val="bg1"/>
                </a:solidFill>
              </a:rPr>
              <a:t>Concept of Paging</a:t>
            </a:r>
            <a:endParaRPr lang="en-US" sz="3950" b="1" dirty="0">
              <a:solidFill>
                <a:schemeClr val="bg1"/>
              </a:solidFill>
            </a:endParaRPr>
          </a:p>
        </p:txBody>
      </p:sp>
      <p:sp>
        <p:nvSpPr>
          <p:cNvPr id="5" name="Text 1"/>
          <p:cNvSpPr/>
          <p:nvPr/>
        </p:nvSpPr>
        <p:spPr>
          <a:xfrm>
            <a:off x="863798" y="4371740"/>
            <a:ext cx="5211181" cy="1362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50"/>
              </a:lnSpc>
            </a:pPr>
            <a:r>
              <a:rPr lang="en-US" sz="2000" b="1" dirty="0" smtClean="0">
                <a:solidFill>
                  <a:schemeClr val="bg1"/>
                </a:solidFill>
              </a:rPr>
              <a:t>1- Memory </a:t>
            </a:r>
            <a:r>
              <a:rPr lang="en-US" sz="2000" b="1" dirty="0">
                <a:solidFill>
                  <a:schemeClr val="bg1"/>
                </a:solidFill>
              </a:rPr>
              <a:t>is divided into fixed-size </a:t>
            </a:r>
            <a:r>
              <a:rPr lang="en-US" sz="2000" b="1" dirty="0" smtClean="0">
                <a:solidFill>
                  <a:schemeClr val="bg1"/>
                </a:solidFill>
              </a:rPr>
              <a:t>frames.</a:t>
            </a:r>
          </a:p>
          <a:p>
            <a:pPr>
              <a:lnSpc>
                <a:spcPts val="2450"/>
              </a:lnSpc>
            </a:pPr>
            <a:r>
              <a:rPr lang="en-US" sz="2000" b="1" dirty="0" smtClean="0">
                <a:solidFill>
                  <a:schemeClr val="bg1"/>
                </a:solidFill>
              </a:rPr>
              <a:t>2- </a:t>
            </a:r>
            <a:r>
              <a:rPr lang="en-US" sz="2000" b="1" dirty="0">
                <a:solidFill>
                  <a:schemeClr val="bg1"/>
                </a:solidFill>
              </a:rPr>
              <a:t>Processes are split into pages of the same </a:t>
            </a:r>
            <a:r>
              <a:rPr lang="en-US" sz="2000" b="1" dirty="0" smtClean="0">
                <a:solidFill>
                  <a:schemeClr val="bg1"/>
                </a:solidFill>
              </a:rPr>
              <a:t>size.</a:t>
            </a:r>
          </a:p>
          <a:p>
            <a:pPr>
              <a:lnSpc>
                <a:spcPts val="2450"/>
              </a:lnSpc>
            </a:pPr>
            <a:r>
              <a:rPr lang="en-US" sz="2000" b="1" dirty="0" smtClean="0">
                <a:solidFill>
                  <a:schemeClr val="bg1"/>
                </a:solidFill>
              </a:rPr>
              <a:t>3- </a:t>
            </a:r>
            <a:r>
              <a:rPr lang="en-US" sz="2000" b="1" dirty="0">
                <a:solidFill>
                  <a:schemeClr val="bg1"/>
                </a:solidFill>
              </a:rPr>
              <a:t>Pages are stored in non-contiguous </a:t>
            </a:r>
            <a:r>
              <a:rPr lang="en-US" sz="2000" b="1" dirty="0" smtClean="0">
                <a:solidFill>
                  <a:schemeClr val="bg1"/>
                </a:solidFill>
              </a:rPr>
              <a:t>frames.</a:t>
            </a:r>
          </a:p>
          <a:p>
            <a:pPr>
              <a:lnSpc>
                <a:spcPts val="2450"/>
              </a:lnSpc>
            </a:pPr>
            <a:r>
              <a:rPr lang="en-US" sz="2000" b="1" dirty="0" smtClean="0">
                <a:solidFill>
                  <a:schemeClr val="bg1"/>
                </a:solidFill>
              </a:rPr>
              <a:t>4-</a:t>
            </a:r>
            <a:r>
              <a:rPr lang="en-US" sz="2000" b="1" dirty="0">
                <a:solidFill>
                  <a:schemeClr val="bg1"/>
                </a:solidFill>
              </a:rPr>
              <a:t>Each process has its own page </a:t>
            </a:r>
            <a:r>
              <a:rPr lang="en-US" sz="2000" b="1" dirty="0" smtClean="0">
                <a:solidFill>
                  <a:schemeClr val="bg1"/>
                </a:solidFill>
              </a:rPr>
              <a:t>table.</a:t>
            </a:r>
          </a:p>
          <a:p>
            <a:pPr>
              <a:lnSpc>
                <a:spcPts val="2450"/>
              </a:lnSpc>
            </a:pPr>
            <a:endParaRPr lang="en-US" sz="2000" b="1" dirty="0" smtClean="0">
              <a:solidFill>
                <a:schemeClr val="bg1"/>
              </a:solidFill>
            </a:endParaRPr>
          </a:p>
          <a:p>
            <a:pPr>
              <a:lnSpc>
                <a:spcPts val="2450"/>
              </a:lnSpc>
            </a:pPr>
            <a:endParaRPr lang="en-US" sz="1950" b="1" dirty="0">
              <a:solidFill>
                <a:schemeClr val="bg1"/>
              </a:solidFill>
            </a:endParaRPr>
          </a:p>
        </p:txBody>
      </p:sp>
      <p:sp>
        <p:nvSpPr>
          <p:cNvPr id="16" name="Text 9"/>
          <p:cNvSpPr/>
          <p:nvPr/>
        </p:nvSpPr>
        <p:spPr>
          <a:xfrm>
            <a:off x="863798" y="5983962"/>
            <a:ext cx="12999347" cy="1268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00" b="1" dirty="0">
                <a:solidFill>
                  <a:schemeClr val="bg1"/>
                </a:solidFill>
              </a:rPr>
              <a:t>Unlike contiguous allocation, paging solves external fragmentation by allowing non-contiguous placement of pages in memory.</a:t>
            </a:r>
            <a:endParaRPr lang="en-US" sz="1600" b="1" dirty="0" smtClean="0">
              <a:solidFill>
                <a:schemeClr val="bg1"/>
              </a:solidFill>
            </a:endParaRPr>
          </a:p>
          <a:p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7" name="Text 10"/>
          <p:cNvSpPr/>
          <p:nvPr/>
        </p:nvSpPr>
        <p:spPr>
          <a:xfrm>
            <a:off x="863798" y="6567130"/>
            <a:ext cx="12902803" cy="333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700" dirty="0"/>
          </a:p>
        </p:txBody>
      </p:sp>
      <p:sp>
        <p:nvSpPr>
          <p:cNvPr id="18" name="Text 11"/>
          <p:cNvSpPr/>
          <p:nvPr/>
        </p:nvSpPr>
        <p:spPr>
          <a:xfrm>
            <a:off x="863798" y="7150298"/>
            <a:ext cx="12902803" cy="333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3062"/>
            <a:ext cx="14630400" cy="27767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3522821"/>
            <a:ext cx="10113288" cy="631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Functionality &amp; Supported Commands</a:t>
            </a:r>
            <a:endParaRPr lang="en-US" sz="39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310" y="4541050"/>
            <a:ext cx="526488" cy="5264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88806" y="4627066"/>
            <a:ext cx="2184440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RQ &lt;process</a:t>
            </a:r>
            <a:r>
              <a:rPr lang="en-US" sz="1950" b="1" dirty="0" smtClean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&gt;&lt;size&gt;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1293400" y="5067538"/>
            <a:ext cx="2184440" cy="66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 smtClean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Requests (size) of Frames for a process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4876" y="4554558"/>
            <a:ext cx="483806" cy="48380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682523" y="4630523"/>
            <a:ext cx="2184559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RL &lt;process&gt;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4588455" y="5042297"/>
            <a:ext cx="2184559" cy="66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Releases memory for a process.</a:t>
            </a:r>
            <a:endParaRPr lang="en-US" sz="1700" dirty="0">
              <a:solidFill>
                <a:schemeClr val="bg1"/>
              </a:solidFill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5117" y="4573071"/>
            <a:ext cx="423505" cy="42350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94768" y="4639550"/>
            <a:ext cx="2184440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 smtClean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</a:rPr>
              <a:t>TR &lt;process&gt;&lt;page&gt;&lt;offset&gt;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7477518" y="5038364"/>
            <a:ext cx="2184440" cy="66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1700" dirty="0" smtClean="0">
                <a:solidFill>
                  <a:schemeClr val="bg1"/>
                </a:solidFill>
                <a:latin typeface="Source Sans Pro" panose="020B0604020202020204" charset="0"/>
                <a:ea typeface="Source Sans Pro" panose="020B0604020202020204" charset="0"/>
              </a:rPr>
              <a:t>Translates </a:t>
            </a:r>
            <a:r>
              <a:rPr lang="en-US" sz="1700" dirty="0">
                <a:solidFill>
                  <a:schemeClr val="bg1"/>
                </a:solidFill>
                <a:latin typeface="Source Sans Pro" panose="020B0604020202020204" charset="0"/>
                <a:ea typeface="Source Sans Pro" panose="020B0604020202020204" charset="0"/>
              </a:rPr>
              <a:t>virtual address to physical</a:t>
            </a:r>
            <a:endParaRPr lang="en-US" sz="1700" dirty="0">
              <a:solidFill>
                <a:schemeClr val="bg1"/>
              </a:solidFill>
              <a:latin typeface="Source Sans Pro" panose="020B0604020202020204" charset="0"/>
              <a:ea typeface="Source Sans Pro" panose="020B0604020202020204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12363" y="4587261"/>
            <a:ext cx="383534" cy="38353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582043" y="4618792"/>
            <a:ext cx="2184559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STAT</a:t>
            </a:r>
            <a:endParaRPr lang="en-US" sz="1950" dirty="0"/>
          </a:p>
        </p:txBody>
      </p:sp>
      <p:sp>
        <p:nvSpPr>
          <p:cNvPr id="15" name="Text 8"/>
          <p:cNvSpPr/>
          <p:nvPr/>
        </p:nvSpPr>
        <p:spPr>
          <a:xfrm>
            <a:off x="11582043" y="5067538"/>
            <a:ext cx="2184559" cy="66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Displays current memory status.</a:t>
            </a:r>
            <a:endParaRPr lang="en-US" sz="1700" dirty="0"/>
          </a:p>
        </p:txBody>
      </p:sp>
      <p:sp>
        <p:nvSpPr>
          <p:cNvPr id="17" name="Text 10"/>
          <p:cNvSpPr/>
          <p:nvPr/>
        </p:nvSpPr>
        <p:spPr>
          <a:xfrm>
            <a:off x="863798" y="6567130"/>
            <a:ext cx="12902803" cy="333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00" b="1" dirty="0">
                <a:solidFill>
                  <a:schemeClr val="bg1"/>
                </a:solidFill>
              </a:rPr>
              <a:t>Simple interface to interact with the memory system.</a:t>
            </a:r>
          </a:p>
        </p:txBody>
      </p:sp>
      <p:sp>
        <p:nvSpPr>
          <p:cNvPr id="18" name="Text 11"/>
          <p:cNvSpPr/>
          <p:nvPr/>
        </p:nvSpPr>
        <p:spPr>
          <a:xfrm>
            <a:off x="863798" y="7004442"/>
            <a:ext cx="12902803" cy="333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</a:t>
            </a:r>
            <a:r>
              <a:rPr lang="en-US" sz="1700" b="1" dirty="0" smtClean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‘EXIT' </a:t>
            </a:r>
            <a:r>
              <a:rPr lang="en-US" sz="1700" b="1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command safely exits the application.</a:t>
            </a:r>
            <a:endParaRPr lang="en-US" sz="1700" b="1" dirty="0"/>
          </a:p>
        </p:txBody>
      </p:sp>
    </p:spTree>
    <p:extLst>
      <p:ext uri="{BB962C8B-B14F-4D97-AF65-F5344CB8AC3E}">
        <p14:creationId xmlns:p14="http://schemas.microsoft.com/office/powerpoint/2010/main" val="1818841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672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721" y="3255169"/>
            <a:ext cx="5670590" cy="560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Internal Data Structures</a:t>
            </a:r>
            <a:endParaRPr lang="en-US" sz="3500" dirty="0"/>
          </a:p>
        </p:txBody>
      </p:sp>
      <p:sp>
        <p:nvSpPr>
          <p:cNvPr id="5" name="Text 1"/>
          <p:cNvSpPr/>
          <p:nvPr/>
        </p:nvSpPr>
        <p:spPr>
          <a:xfrm>
            <a:off x="1853088" y="4038005"/>
            <a:ext cx="727552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sz="2400" b="1" dirty="0" smtClean="0">
                <a:solidFill>
                  <a:schemeClr val="bg1"/>
                </a:solidFill>
              </a:rPr>
              <a:t>Mem</a:t>
            </a:r>
            <a:endParaRPr lang="en-US" sz="1750" b="1" dirty="0">
              <a:solidFill>
                <a:schemeClr val="bg1"/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1010007" y="4531202"/>
            <a:ext cx="3940373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600" b="1" dirty="0">
                <a:solidFill>
                  <a:schemeClr val="bg1"/>
                </a:solidFill>
              </a:rPr>
              <a:t>List representing memory frames</a:t>
            </a:r>
            <a:endParaRPr lang="en-US" sz="1550" b="1" dirty="0">
              <a:solidFill>
                <a:schemeClr val="bg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793016" y="5722005"/>
            <a:ext cx="16758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sizeofframe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5" name="Text 2"/>
          <p:cNvSpPr/>
          <p:nvPr/>
        </p:nvSpPr>
        <p:spPr>
          <a:xfrm>
            <a:off x="4308219" y="4530130"/>
            <a:ext cx="3940373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600" b="1" dirty="0">
                <a:solidFill>
                  <a:schemeClr val="bg1"/>
                </a:solidFill>
              </a:rPr>
              <a:t>Dictionary mapping process names to list of frame indices</a:t>
            </a:r>
            <a:endParaRPr lang="en-US" sz="1550" b="1" dirty="0">
              <a:solidFill>
                <a:schemeClr val="bg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0151182" y="3881467"/>
            <a:ext cx="13299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</a:rPr>
              <a:t>Memsize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8" name="Text 2"/>
          <p:cNvSpPr/>
          <p:nvPr/>
        </p:nvSpPr>
        <p:spPr>
          <a:xfrm>
            <a:off x="9679900" y="4527530"/>
            <a:ext cx="3940373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600" b="1" dirty="0">
                <a:solidFill>
                  <a:schemeClr val="bg1"/>
                </a:solidFill>
              </a:rPr>
              <a:t>Counter for remaining free frames</a:t>
            </a:r>
            <a:endParaRPr lang="en-US" sz="1550" b="1" dirty="0">
              <a:solidFill>
                <a:schemeClr val="bg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793016" y="4094609"/>
            <a:ext cx="14505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pagetable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40" name="Text 2"/>
          <p:cNvSpPr/>
          <p:nvPr/>
        </p:nvSpPr>
        <p:spPr>
          <a:xfrm>
            <a:off x="4745099" y="6383260"/>
            <a:ext cx="3940373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300"/>
              </a:lnSpc>
            </a:pPr>
            <a:r>
              <a:rPr lang="en-US" sz="1600" b="1" dirty="0">
                <a:solidFill>
                  <a:schemeClr val="bg1"/>
                </a:solidFill>
              </a:rPr>
              <a:t>Defines the size of each frame</a:t>
            </a:r>
            <a:endParaRPr lang="en-US" sz="1550" b="1" dirty="0">
              <a:solidFill>
                <a:schemeClr val="bg1"/>
              </a:solidFill>
            </a:endParaRPr>
          </a:p>
        </p:txBody>
      </p:sp>
      <p:sp>
        <p:nvSpPr>
          <p:cNvPr id="41" name="Text 2"/>
          <p:cNvSpPr/>
          <p:nvPr/>
        </p:nvSpPr>
        <p:spPr>
          <a:xfrm>
            <a:off x="1453259" y="7291748"/>
            <a:ext cx="3940373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300"/>
              </a:lnSpc>
            </a:pPr>
            <a:r>
              <a:rPr lang="en-US" sz="1600" dirty="0">
                <a:solidFill>
                  <a:schemeClr val="bg1"/>
                </a:solidFill>
              </a:rPr>
              <a:t>This model mimics how real operating systems manage memory.</a:t>
            </a:r>
            <a:endParaRPr lang="en-US" sz="155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3437" y="708184"/>
            <a:ext cx="5586770" cy="490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Implementation Highlights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763437" y="1458039"/>
            <a:ext cx="388739" cy="388739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5" name="Text 2"/>
          <p:cNvSpPr/>
          <p:nvPr/>
        </p:nvSpPr>
        <p:spPr>
          <a:xfrm>
            <a:off x="839995" y="1505129"/>
            <a:ext cx="235506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324936" y="1517333"/>
            <a:ext cx="5604184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 smtClean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</a:rPr>
              <a:t>add_process(</a:t>
            </a:r>
            <a:r>
              <a:rPr lang="en-US" sz="1500" b="1" dirty="0" err="1" smtClean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</a:rPr>
              <a:t>Mem,pagetable,Memsize,process,initialsize</a:t>
            </a:r>
            <a:r>
              <a:rPr lang="en-US" sz="1500" b="1" dirty="0" smtClean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</a:rPr>
              <a:t>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24936" y="1866305"/>
            <a:ext cx="6854904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400" dirty="0">
                <a:solidFill>
                  <a:schemeClr val="bg1"/>
                </a:solidFill>
              </a:rPr>
              <a:t>Allocates free frames to a process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1324936" y="2228969"/>
            <a:ext cx="6854904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400" dirty="0">
                <a:solidFill>
                  <a:schemeClr val="bg1"/>
                </a:solidFill>
              </a:rPr>
              <a:t>Updates page table and memory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763437" y="2833568"/>
            <a:ext cx="388739" cy="388739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0" name="Text 7"/>
          <p:cNvSpPr/>
          <p:nvPr/>
        </p:nvSpPr>
        <p:spPr>
          <a:xfrm>
            <a:off x="839995" y="2880658"/>
            <a:ext cx="235506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324936" y="2892862"/>
            <a:ext cx="1963341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 smtClean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delete_process</a:t>
            </a:r>
            <a:r>
              <a:rPr lang="en-US" sz="1500" b="1" dirty="0" smtClean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(</a:t>
            </a:r>
            <a:r>
              <a:rPr lang="en-US" sz="1500" b="1" dirty="0" err="1" smtClean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Mem,pagetable,Memsize,process</a:t>
            </a:r>
            <a:r>
              <a:rPr lang="en-US" sz="1500" b="1" dirty="0" smtClean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24936" y="3241834"/>
            <a:ext cx="6854904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400" dirty="0">
                <a:solidFill>
                  <a:schemeClr val="bg1"/>
                </a:solidFill>
              </a:rPr>
              <a:t>Frees all frames of a process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1324936" y="3604498"/>
            <a:ext cx="6854904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400" dirty="0">
                <a:solidFill>
                  <a:schemeClr val="bg1"/>
                </a:solidFill>
              </a:rPr>
              <a:t>Removes it from the page table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63437" y="4209098"/>
            <a:ext cx="388739" cy="388739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995" y="4256187"/>
            <a:ext cx="235506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1324936" y="4268391"/>
            <a:ext cx="1963341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 smtClean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translate</a:t>
            </a:r>
            <a:r>
              <a:rPr lang="en-US" sz="1500" b="1" dirty="0" smtClean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(</a:t>
            </a:r>
            <a:r>
              <a:rPr lang="en-US" sz="1500" b="1" dirty="0" err="1" smtClean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Mem,pagetable,Memsize,inp</a:t>
            </a:r>
            <a:r>
              <a:rPr lang="en-US" sz="1500" b="1" dirty="0" smtClean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(string),</a:t>
            </a:r>
            <a:r>
              <a:rPr lang="en-US" sz="1500" b="1" dirty="0" err="1" smtClean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sizeofframes</a:t>
            </a:r>
            <a:r>
              <a:rPr lang="en-US" sz="1500" b="1" dirty="0" smtClean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)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324936" y="4617363"/>
            <a:ext cx="6854904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400" dirty="0">
                <a:solidFill>
                  <a:schemeClr val="bg1"/>
                </a:solidFill>
              </a:rPr>
              <a:t>Converts a page number and offset to a physical address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2" name="Text 19"/>
          <p:cNvSpPr/>
          <p:nvPr/>
        </p:nvSpPr>
        <p:spPr>
          <a:xfrm>
            <a:off x="763437" y="5472548"/>
            <a:ext cx="6854904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400" dirty="0" smtClean="0">
                <a:solidFill>
                  <a:schemeClr val="bg1"/>
                </a:solidFill>
              </a:rPr>
              <a:t>Also Includes </a:t>
            </a:r>
            <a:r>
              <a:rPr lang="en-US" sz="1400" dirty="0">
                <a:solidFill>
                  <a:schemeClr val="bg1"/>
                </a:solidFill>
              </a:rPr>
              <a:t>robust error handling for invalid input or memory overflow.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558" y="663654"/>
            <a:ext cx="3560564" cy="445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 smtClean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Test Case </a:t>
            </a:r>
            <a:r>
              <a:rPr lang="en-US" sz="2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(1)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43558" y="1302940"/>
            <a:ext cx="5719802" cy="4438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50"/>
              </a:lnSpc>
            </a:pPr>
            <a:r>
              <a:rPr lang="en-US" dirty="0">
                <a:solidFill>
                  <a:schemeClr val="bg1"/>
                </a:solidFill>
              </a:rPr>
              <a:t>When the program runs, it first asks for the number of </a:t>
            </a:r>
            <a:endParaRPr lang="en-US" dirty="0" smtClean="0">
              <a:solidFill>
                <a:schemeClr val="bg1"/>
              </a:solidFill>
            </a:endParaRPr>
          </a:p>
          <a:p>
            <a:pPr>
              <a:lnSpc>
                <a:spcPts val="1850"/>
              </a:lnSpc>
            </a:pPr>
            <a:r>
              <a:rPr lang="en-US" dirty="0" smtClean="0">
                <a:solidFill>
                  <a:schemeClr val="bg1"/>
                </a:solidFill>
              </a:rPr>
              <a:t>frames</a:t>
            </a:r>
            <a:r>
              <a:rPr lang="en-US" dirty="0">
                <a:solidFill>
                  <a:schemeClr val="bg1"/>
                </a:solidFill>
              </a:rPr>
              <a:t>, which must be an integer and a power of 2, </a:t>
            </a:r>
            <a:r>
              <a:rPr lang="en-US" dirty="0" smtClean="0">
                <a:solidFill>
                  <a:schemeClr val="bg1"/>
                </a:solidFill>
              </a:rPr>
              <a:t>followed</a:t>
            </a:r>
          </a:p>
          <a:p>
            <a:pPr>
              <a:lnSpc>
                <a:spcPts val="1850"/>
              </a:lnSpc>
            </a:pPr>
            <a:r>
              <a:rPr lang="en-US" dirty="0" smtClean="0">
                <a:solidFill>
                  <a:schemeClr val="bg1"/>
                </a:solidFill>
              </a:rPr>
              <a:t>by </a:t>
            </a:r>
            <a:r>
              <a:rPr lang="en-US" dirty="0">
                <a:solidFill>
                  <a:schemeClr val="bg1"/>
                </a:solidFill>
              </a:rPr>
              <a:t>the size of each frame, which must be a positive integer. </a:t>
            </a:r>
            <a:endParaRPr lang="en-US" dirty="0" smtClean="0">
              <a:solidFill>
                <a:schemeClr val="bg1"/>
              </a:solidFill>
            </a:endParaRPr>
          </a:p>
          <a:p>
            <a:pPr>
              <a:lnSpc>
                <a:spcPts val="1850"/>
              </a:lnSpc>
            </a:pPr>
            <a:r>
              <a:rPr lang="en-US" dirty="0" smtClean="0">
                <a:solidFill>
                  <a:schemeClr val="bg1"/>
                </a:solidFill>
              </a:rPr>
              <a:t>Then</a:t>
            </a:r>
            <a:r>
              <a:rPr lang="en-US" dirty="0">
                <a:solidFill>
                  <a:schemeClr val="bg1"/>
                </a:solidFill>
              </a:rPr>
              <a:t>, it enters a loop where it accepts commands: RQ to </a:t>
            </a:r>
            <a:endParaRPr lang="en-US" dirty="0" smtClean="0">
              <a:solidFill>
                <a:schemeClr val="bg1"/>
              </a:solidFill>
            </a:endParaRPr>
          </a:p>
          <a:p>
            <a:pPr>
              <a:lnSpc>
                <a:spcPts val="1850"/>
              </a:lnSpc>
            </a:pPr>
            <a:r>
              <a:rPr lang="en-US" dirty="0" smtClean="0">
                <a:solidFill>
                  <a:schemeClr val="bg1"/>
                </a:solidFill>
              </a:rPr>
              <a:t>request </a:t>
            </a:r>
            <a:r>
              <a:rPr lang="en-US" dirty="0">
                <a:solidFill>
                  <a:schemeClr val="bg1"/>
                </a:solidFill>
              </a:rPr>
              <a:t>memory for a process, RL to release memory, STAT </a:t>
            </a:r>
            <a:endParaRPr lang="en-US" dirty="0" smtClean="0">
              <a:solidFill>
                <a:schemeClr val="bg1"/>
              </a:solidFill>
            </a:endParaRPr>
          </a:p>
          <a:p>
            <a:pPr>
              <a:lnSpc>
                <a:spcPts val="1850"/>
              </a:lnSpc>
            </a:pPr>
            <a:r>
              <a:rPr lang="en-US" dirty="0" smtClean="0">
                <a:solidFill>
                  <a:schemeClr val="bg1"/>
                </a:solidFill>
              </a:rPr>
              <a:t>to </a:t>
            </a:r>
            <a:r>
              <a:rPr lang="en-US" dirty="0">
                <a:solidFill>
                  <a:schemeClr val="bg1"/>
                </a:solidFill>
              </a:rPr>
              <a:t>display the current memory layout, and TR to translate </a:t>
            </a:r>
            <a:r>
              <a:rPr lang="en-US" dirty="0" smtClean="0">
                <a:solidFill>
                  <a:schemeClr val="bg1"/>
                </a:solidFill>
              </a:rPr>
              <a:t>and</a:t>
            </a:r>
          </a:p>
          <a:p>
            <a:pPr>
              <a:lnSpc>
                <a:spcPts val="1850"/>
              </a:lnSpc>
            </a:pP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print the physical address of a page. </a:t>
            </a:r>
            <a:endParaRPr lang="en-US" dirty="0" smtClean="0">
              <a:solidFill>
                <a:schemeClr val="bg1"/>
              </a:solidFill>
            </a:endParaRPr>
          </a:p>
          <a:p>
            <a:pPr>
              <a:lnSpc>
                <a:spcPts val="1850"/>
              </a:lnSpc>
            </a:pPr>
            <a:r>
              <a:rPr lang="en-US" dirty="0" smtClean="0">
                <a:solidFill>
                  <a:schemeClr val="bg1"/>
                </a:solidFill>
              </a:rPr>
              <a:t>In </a:t>
            </a:r>
            <a:r>
              <a:rPr lang="en-US" dirty="0">
                <a:solidFill>
                  <a:schemeClr val="bg1"/>
                </a:solidFill>
              </a:rPr>
              <a:t>this example, I requested 3 frames for P0, which took </a:t>
            </a:r>
            <a:r>
              <a:rPr lang="en-US" dirty="0" smtClean="0">
                <a:solidFill>
                  <a:schemeClr val="bg1"/>
                </a:solidFill>
              </a:rPr>
              <a:t>the </a:t>
            </a:r>
          </a:p>
          <a:p>
            <a:pPr>
              <a:lnSpc>
                <a:spcPts val="1850"/>
              </a:lnSpc>
            </a:pPr>
            <a:r>
              <a:rPr lang="en-US" dirty="0" smtClean="0">
                <a:solidFill>
                  <a:schemeClr val="bg1"/>
                </a:solidFill>
              </a:rPr>
              <a:t>first </a:t>
            </a:r>
            <a:r>
              <a:rPr lang="en-US" dirty="0">
                <a:solidFill>
                  <a:schemeClr val="bg1"/>
                </a:solidFill>
              </a:rPr>
              <a:t>three frames; then 2 frames for P1, which occupied the </a:t>
            </a:r>
            <a:endParaRPr lang="en-US" dirty="0" smtClean="0">
              <a:solidFill>
                <a:schemeClr val="bg1"/>
              </a:solidFill>
            </a:endParaRPr>
          </a:p>
          <a:p>
            <a:pPr>
              <a:lnSpc>
                <a:spcPts val="1850"/>
              </a:lnSpc>
            </a:pPr>
            <a:r>
              <a:rPr lang="en-US" dirty="0" smtClean="0">
                <a:solidFill>
                  <a:schemeClr val="bg1"/>
                </a:solidFill>
              </a:rPr>
              <a:t>fourth </a:t>
            </a:r>
            <a:r>
              <a:rPr lang="en-US" dirty="0">
                <a:solidFill>
                  <a:schemeClr val="bg1"/>
                </a:solidFill>
              </a:rPr>
              <a:t>and fifth; and later requested one more frame for P0, </a:t>
            </a:r>
            <a:endParaRPr lang="en-US" dirty="0" smtClean="0">
              <a:solidFill>
                <a:schemeClr val="bg1"/>
              </a:solidFill>
            </a:endParaRPr>
          </a:p>
          <a:p>
            <a:pPr>
              <a:lnSpc>
                <a:spcPts val="1850"/>
              </a:lnSpc>
            </a:pPr>
            <a:r>
              <a:rPr lang="en-US" dirty="0" smtClean="0">
                <a:solidFill>
                  <a:schemeClr val="bg1"/>
                </a:solidFill>
              </a:rPr>
              <a:t>which </a:t>
            </a:r>
            <a:r>
              <a:rPr lang="en-US" dirty="0">
                <a:solidFill>
                  <a:schemeClr val="bg1"/>
                </a:solidFill>
              </a:rPr>
              <a:t>was allocated to the sixth frame. Finally, I used the TR </a:t>
            </a:r>
            <a:endParaRPr lang="en-US" dirty="0" smtClean="0">
              <a:solidFill>
                <a:schemeClr val="bg1"/>
              </a:solidFill>
            </a:endParaRPr>
          </a:p>
          <a:p>
            <a:pPr>
              <a:lnSpc>
                <a:spcPts val="1850"/>
              </a:lnSpc>
            </a:pPr>
            <a:r>
              <a:rPr lang="en-US" dirty="0" smtClean="0">
                <a:solidFill>
                  <a:schemeClr val="bg1"/>
                </a:solidFill>
              </a:rPr>
              <a:t>command </a:t>
            </a:r>
            <a:r>
              <a:rPr lang="en-US" dirty="0">
                <a:solidFill>
                  <a:schemeClr val="bg1"/>
                </a:solidFill>
              </a:rPr>
              <a:t>to calculate and print the physical addresses for </a:t>
            </a:r>
            <a:endParaRPr lang="en-US" dirty="0" smtClean="0">
              <a:solidFill>
                <a:schemeClr val="bg1"/>
              </a:solidFill>
            </a:endParaRPr>
          </a:p>
          <a:p>
            <a:pPr>
              <a:lnSpc>
                <a:spcPts val="1850"/>
              </a:lnSpc>
            </a:pPr>
            <a:r>
              <a:rPr lang="en-US" dirty="0" smtClean="0">
                <a:solidFill>
                  <a:schemeClr val="bg1"/>
                </a:solidFill>
              </a:rPr>
              <a:t>both </a:t>
            </a:r>
            <a:r>
              <a:rPr lang="en-US" dirty="0">
                <a:solidFill>
                  <a:schemeClr val="bg1"/>
                </a:solidFill>
              </a:rPr>
              <a:t>P0 and P1.</a:t>
            </a:r>
            <a:endParaRPr lang="en-US" dirty="0" smtClean="0">
              <a:solidFill>
                <a:schemeClr val="bg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0080" y="3705165"/>
            <a:ext cx="7246259" cy="375195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0079" y="764262"/>
            <a:ext cx="7246259" cy="27160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8201" y="666393"/>
            <a:ext cx="3579971" cy="447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 smtClean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Test Case </a:t>
            </a:r>
            <a:r>
              <a:rPr lang="en-US" sz="2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(2)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48200" y="1255514"/>
            <a:ext cx="5999639" cy="5673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50"/>
              </a:lnSpc>
            </a:pPr>
            <a:r>
              <a:rPr lang="en-US" dirty="0">
                <a:solidFill>
                  <a:schemeClr val="bg1"/>
                </a:solidFill>
              </a:rPr>
              <a:t>Here, I used the RL command to delete the P1 process, which </a:t>
            </a:r>
            <a:endParaRPr lang="en-US" dirty="0" smtClean="0">
              <a:solidFill>
                <a:schemeClr val="bg1"/>
              </a:solidFill>
            </a:endParaRPr>
          </a:p>
          <a:p>
            <a:pPr>
              <a:lnSpc>
                <a:spcPts val="1850"/>
              </a:lnSpc>
            </a:pPr>
            <a:r>
              <a:rPr lang="en-US" dirty="0" smtClean="0">
                <a:solidFill>
                  <a:schemeClr val="bg1"/>
                </a:solidFill>
              </a:rPr>
              <a:t>was </a:t>
            </a:r>
            <a:r>
              <a:rPr lang="en-US" dirty="0">
                <a:solidFill>
                  <a:schemeClr val="bg1"/>
                </a:solidFill>
              </a:rPr>
              <a:t>removed from memory and left behind 0s (indicating </a:t>
            </a:r>
            <a:r>
              <a:rPr lang="en-US" dirty="0" smtClean="0">
                <a:solidFill>
                  <a:schemeClr val="bg1"/>
                </a:solidFill>
              </a:rPr>
              <a:t>empty</a:t>
            </a:r>
          </a:p>
          <a:p>
            <a:pPr>
              <a:lnSpc>
                <a:spcPts val="1850"/>
              </a:lnSpc>
            </a:pPr>
            <a:r>
              <a:rPr lang="en-US" dirty="0" smtClean="0">
                <a:solidFill>
                  <a:schemeClr val="bg1"/>
                </a:solidFill>
              </a:rPr>
              <a:t>frames</a:t>
            </a:r>
            <a:r>
              <a:rPr lang="en-US" dirty="0">
                <a:solidFill>
                  <a:schemeClr val="bg1"/>
                </a:solidFill>
              </a:rPr>
              <a:t>). </a:t>
            </a:r>
            <a:endParaRPr lang="en-US" dirty="0" smtClean="0">
              <a:solidFill>
                <a:schemeClr val="bg1"/>
              </a:solidFill>
            </a:endParaRPr>
          </a:p>
          <a:p>
            <a:pPr>
              <a:lnSpc>
                <a:spcPts val="1850"/>
              </a:lnSpc>
            </a:pPr>
            <a:r>
              <a:rPr lang="en-US" dirty="0" smtClean="0">
                <a:solidFill>
                  <a:schemeClr val="bg1"/>
                </a:solidFill>
              </a:rPr>
              <a:t>I </a:t>
            </a:r>
            <a:r>
              <a:rPr lang="en-US" dirty="0">
                <a:solidFill>
                  <a:schemeClr val="bg1"/>
                </a:solidFill>
              </a:rPr>
              <a:t>also intentionally entered incorrect command lines </a:t>
            </a:r>
            <a:r>
              <a:rPr lang="en-US" dirty="0" smtClean="0">
                <a:solidFill>
                  <a:schemeClr val="bg1"/>
                </a:solidFill>
              </a:rPr>
              <a:t>to</a:t>
            </a:r>
          </a:p>
          <a:p>
            <a:pPr>
              <a:lnSpc>
                <a:spcPts val="1850"/>
              </a:lnSpc>
            </a:pPr>
            <a:r>
              <a:rPr lang="en-US" dirty="0" smtClean="0">
                <a:solidFill>
                  <a:schemeClr val="bg1"/>
                </a:solidFill>
              </a:rPr>
              <a:t>highlight </a:t>
            </a:r>
            <a:r>
              <a:rPr lang="en-US" dirty="0">
                <a:solidFill>
                  <a:schemeClr val="bg1"/>
                </a:solidFill>
              </a:rPr>
              <a:t>the program’s error handling, which responds </a:t>
            </a:r>
            <a:endParaRPr lang="en-US" dirty="0" smtClean="0">
              <a:solidFill>
                <a:schemeClr val="bg1"/>
              </a:solidFill>
            </a:endParaRPr>
          </a:p>
          <a:p>
            <a:pPr>
              <a:lnSpc>
                <a:spcPts val="1850"/>
              </a:lnSpc>
            </a:pPr>
            <a:r>
              <a:rPr lang="en-US" dirty="0" smtClean="0">
                <a:solidFill>
                  <a:schemeClr val="bg1"/>
                </a:solidFill>
              </a:rPr>
              <a:t>appropriately </a:t>
            </a:r>
            <a:r>
              <a:rPr lang="en-US" dirty="0">
                <a:solidFill>
                  <a:schemeClr val="bg1"/>
                </a:solidFill>
              </a:rPr>
              <a:t>to invalid inputs.</a:t>
            </a:r>
            <a:endParaRPr lang="en-US" dirty="0" smtClean="0">
              <a:solidFill>
                <a:schemeClr val="bg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546" y="1032550"/>
            <a:ext cx="7287445" cy="48500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7476" y="596027"/>
            <a:ext cx="3197185" cy="399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 smtClean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Test Case </a:t>
            </a:r>
            <a:r>
              <a:rPr lang="en-US" sz="25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(3)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757477" y="1227594"/>
            <a:ext cx="5694124" cy="5579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dirty="0">
                <a:solidFill>
                  <a:schemeClr val="bg1"/>
                </a:solidFill>
              </a:rPr>
              <a:t>This example shows how paging works effectively. I allocated </a:t>
            </a:r>
            <a:endParaRPr lang="en-US" dirty="0" smtClean="0">
              <a:solidFill>
                <a:schemeClr val="bg1"/>
              </a:solidFill>
            </a:endParaRPr>
          </a:p>
          <a:p>
            <a:pPr>
              <a:lnSpc>
                <a:spcPts val="1650"/>
              </a:lnSpc>
            </a:pPr>
            <a:r>
              <a:rPr lang="en-US" dirty="0" smtClean="0">
                <a:solidFill>
                  <a:schemeClr val="bg1"/>
                </a:solidFill>
              </a:rPr>
              <a:t>pages </a:t>
            </a:r>
            <a:r>
              <a:rPr lang="en-US" dirty="0">
                <a:solidFill>
                  <a:schemeClr val="bg1"/>
                </a:solidFill>
              </a:rPr>
              <a:t>to P0 and P1, released P1, then reused its frame for </a:t>
            </a:r>
            <a:endParaRPr lang="en-US" dirty="0" smtClean="0">
              <a:solidFill>
                <a:schemeClr val="bg1"/>
              </a:solidFill>
            </a:endParaRPr>
          </a:p>
          <a:p>
            <a:pPr>
              <a:lnSpc>
                <a:spcPts val="1650"/>
              </a:lnSpc>
            </a:pPr>
            <a:r>
              <a:rPr lang="en-US" dirty="0" smtClean="0">
                <a:solidFill>
                  <a:schemeClr val="bg1"/>
                </a:solidFill>
              </a:rPr>
              <a:t>P0—demonstrating </a:t>
            </a:r>
            <a:r>
              <a:rPr lang="en-US" dirty="0">
                <a:solidFill>
                  <a:schemeClr val="bg1"/>
                </a:solidFill>
              </a:rPr>
              <a:t>how paging allows non-contiguous </a:t>
            </a:r>
            <a:endParaRPr lang="en-US" dirty="0" smtClean="0">
              <a:solidFill>
                <a:schemeClr val="bg1"/>
              </a:solidFill>
            </a:endParaRPr>
          </a:p>
          <a:p>
            <a:pPr>
              <a:lnSpc>
                <a:spcPts val="1650"/>
              </a:lnSpc>
            </a:pPr>
            <a:r>
              <a:rPr lang="en-US" dirty="0" smtClean="0">
                <a:solidFill>
                  <a:schemeClr val="bg1"/>
                </a:solidFill>
              </a:rPr>
              <a:t>memory </a:t>
            </a:r>
            <a:r>
              <a:rPr lang="en-US" dirty="0">
                <a:solidFill>
                  <a:schemeClr val="bg1"/>
                </a:solidFill>
              </a:rPr>
              <a:t>use. </a:t>
            </a:r>
            <a:endParaRPr lang="en-US" dirty="0" smtClean="0">
              <a:solidFill>
                <a:schemeClr val="bg1"/>
              </a:solidFill>
            </a:endParaRPr>
          </a:p>
          <a:p>
            <a:pPr>
              <a:lnSpc>
                <a:spcPts val="1650"/>
              </a:lnSpc>
            </a:pPr>
            <a:r>
              <a:rPr lang="en-US" dirty="0" smtClean="0">
                <a:solidFill>
                  <a:schemeClr val="bg1"/>
                </a:solidFill>
              </a:rPr>
              <a:t>The </a:t>
            </a:r>
            <a:r>
              <a:rPr lang="en-US" dirty="0">
                <a:solidFill>
                  <a:schemeClr val="bg1"/>
                </a:solidFill>
              </a:rPr>
              <a:t>TR command accurately translated a virtual address, and </a:t>
            </a:r>
            <a:endParaRPr lang="en-US" dirty="0" smtClean="0">
              <a:solidFill>
                <a:schemeClr val="bg1"/>
              </a:solidFill>
            </a:endParaRPr>
          </a:p>
          <a:p>
            <a:pPr>
              <a:lnSpc>
                <a:spcPts val="1650"/>
              </a:lnSpc>
            </a:pPr>
            <a:r>
              <a:rPr lang="en-US" dirty="0" smtClean="0">
                <a:solidFill>
                  <a:schemeClr val="bg1"/>
                </a:solidFill>
              </a:rPr>
              <a:t>STAT </a:t>
            </a:r>
            <a:r>
              <a:rPr lang="en-US" dirty="0">
                <a:solidFill>
                  <a:schemeClr val="bg1"/>
                </a:solidFill>
              </a:rPr>
              <a:t>showed clear memory updates. This highlights how </a:t>
            </a:r>
            <a:endParaRPr lang="en-US" dirty="0" smtClean="0">
              <a:solidFill>
                <a:schemeClr val="bg1"/>
              </a:solidFill>
            </a:endParaRPr>
          </a:p>
          <a:p>
            <a:pPr>
              <a:lnSpc>
                <a:spcPts val="1650"/>
              </a:lnSpc>
            </a:pPr>
            <a:r>
              <a:rPr lang="en-US" dirty="0" smtClean="0">
                <a:solidFill>
                  <a:schemeClr val="bg1"/>
                </a:solidFill>
              </a:rPr>
              <a:t>paging </a:t>
            </a:r>
            <a:r>
              <a:rPr lang="en-US" dirty="0">
                <a:solidFill>
                  <a:schemeClr val="bg1"/>
                </a:solidFill>
              </a:rPr>
              <a:t>avoids fragmentation and makes dynamic memory </a:t>
            </a:r>
            <a:endParaRPr lang="en-US" dirty="0" smtClean="0">
              <a:solidFill>
                <a:schemeClr val="bg1"/>
              </a:solidFill>
            </a:endParaRPr>
          </a:p>
          <a:p>
            <a:pPr>
              <a:lnSpc>
                <a:spcPts val="1650"/>
              </a:lnSpc>
            </a:pPr>
            <a:r>
              <a:rPr lang="en-US" dirty="0" smtClean="0">
                <a:solidFill>
                  <a:schemeClr val="bg1"/>
                </a:solidFill>
              </a:rPr>
              <a:t>use </a:t>
            </a:r>
            <a:r>
              <a:rPr lang="en-US" dirty="0">
                <a:solidFill>
                  <a:schemeClr val="bg1"/>
                </a:solidFill>
              </a:rPr>
              <a:t>efficient.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2372" y="1536343"/>
            <a:ext cx="7141588" cy="45720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535</Words>
  <Application>Microsoft Office PowerPoint</Application>
  <PresentationFormat>Custom</PresentationFormat>
  <Paragraphs>81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Montserrat Bold</vt:lpstr>
      <vt:lpstr>Calibri</vt:lpstr>
      <vt:lpstr>Source Sans Pro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13</cp:revision>
  <dcterms:created xsi:type="dcterms:W3CDTF">2025-06-15T21:00:24Z</dcterms:created>
  <dcterms:modified xsi:type="dcterms:W3CDTF">2025-06-16T00:06:59Z</dcterms:modified>
</cp:coreProperties>
</file>